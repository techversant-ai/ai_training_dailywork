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0"/>
            <a:ext cx="8796528" cy="5143500"/>
          </a:xfrm>
          <a:prstGeom prst="rect">
            <a:avLst/>
          </a:prstGeom>
          <a:solidFill>
            <a:srgbClr val="0A0E15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64008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8016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92024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56032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320040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384048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4480560"/>
            <a:ext cx="8796528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AI PRACTICAL TRAINING  ·  TECHVERSANT INFOTECH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7315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Prompt Engineering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 Work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94360" y="2633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Prompting for Developers, QA, DevOps, HR &amp; Technology Leaders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291840"/>
            <a:ext cx="1965960" cy="292608"/>
          </a:xfrm>
          <a:prstGeom prst="rect">
            <a:avLst/>
          </a:prstGeom>
          <a:solidFill>
            <a:srgbClr val="58A6FF">
              <a:alpha val="12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</a:rPr>
              <a:t>AI / Backend Dev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97480" y="3291840"/>
            <a:ext cx="1965960" cy="292608"/>
          </a:xfrm>
          <a:prstGeom prst="rect">
            <a:avLst/>
          </a:prstGeom>
          <a:solidFill>
            <a:srgbClr val="3FB950">
              <a:alpha val="12000"/>
            </a:srgbClr>
          </a:solidFill>
          <a:ln w="889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</a:rPr>
              <a:t>QA / Tester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3291840"/>
            <a:ext cx="1965960" cy="292608"/>
          </a:xfrm>
          <a:prstGeom prst="rect">
            <a:avLst/>
          </a:prstGeom>
          <a:solidFill>
            <a:srgbClr val="BC8CFF">
              <a:alpha val="12000"/>
            </a:srgbClr>
          </a:solidFill>
          <a:ln w="889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C8CFF"/>
                </a:solidFill>
              </a:rPr>
              <a:t>DevOps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3291840"/>
            <a:ext cx="1965960" cy="29260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C060"/>
                </a:solidFill>
              </a:rPr>
              <a:t>Project Manager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3675888"/>
            <a:ext cx="1965960" cy="292608"/>
          </a:xfrm>
          <a:prstGeom prst="rect">
            <a:avLst/>
          </a:prstGeom>
          <a:solidFill>
            <a:srgbClr val="58A6FF">
              <a:alpha val="12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75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</a:rPr>
              <a:t>Business Analyst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3675888"/>
            <a:ext cx="1965960" cy="292608"/>
          </a:xfrm>
          <a:prstGeom prst="rect">
            <a:avLst/>
          </a:prstGeom>
          <a:solidFill>
            <a:srgbClr val="3FB950">
              <a:alpha val="12000"/>
            </a:srgbClr>
          </a:solidFill>
          <a:ln w="889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675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</a:rPr>
              <a:t>HR Team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3675888"/>
            <a:ext cx="1965960" cy="292608"/>
          </a:xfrm>
          <a:prstGeom prst="rect">
            <a:avLst/>
          </a:prstGeom>
          <a:solidFill>
            <a:srgbClr val="BC8CFF">
              <a:alpha val="12000"/>
            </a:srgbClr>
          </a:solidFill>
          <a:ln w="889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75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C8CFF"/>
                </a:solidFill>
              </a:rPr>
              <a:t>Delivery Manager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3675888"/>
            <a:ext cx="1965960" cy="29260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675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C060"/>
                </a:solidFill>
              </a:rPr>
              <a:t>Tech Architect / CTO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4315968"/>
            <a:ext cx="5120640" cy="54864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15968"/>
            <a:ext cx="45720" cy="54864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334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A. Thamizharasi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" y="4590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ML Engineer  ·  Techversant Infotech Pvt Ltd  ·  Trivandrum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C060"/>
                </a:solidFill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Session Covers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HTML tool + 15 sections of live, role-specific content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39319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1426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38528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role → generate a full personalised AI session instantly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39319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10512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Basics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8528" y="1810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components, LLM internals, tokenisation, temperature, Chain of Thought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39319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94560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94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Patterns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38528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reusable patterns — Role, Context, Format, Few-Shot, Constraint, 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39319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78608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78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" y="25786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output formats — JSON, YAML, Gherkin, JIRA, ADR, PIR and more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962656"/>
            <a:ext cx="39319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62656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62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" y="29626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Optimization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38528" y="2962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formula, what burns tokens, 6 ways to cut LLM cost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346704"/>
            <a:ext cx="39319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46704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" y="33467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38528" y="3346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daily AI use cases per role — 15 roles × 6 use cases = 90 practical scenarios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80560" y="1426464"/>
            <a:ext cx="41148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1426464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14264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92624" y="1426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61888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copy-paste-ready prompts per role, tested and production-grade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80560" y="1810512"/>
            <a:ext cx="41148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1810512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🎬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92624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61888" y="1810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using Prompt 1 for the selected role — run in ChatGPT or Claude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80560" y="2194560"/>
            <a:ext cx="41148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2194560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2194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🛡️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92624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 Control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61888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techniques: grounding, uncertainty, schema, no-guess rules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2578608"/>
            <a:ext cx="41148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0" y="2578608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2578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⚔️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92624" y="25786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vs Good Prompt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961888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examples — dev, BA, QA — realistic vague vs specific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80560" y="2962656"/>
            <a:ext cx="41148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2962656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2962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🔧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992624" y="29626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61888" y="2962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AI tools per role — Claude, ChatGPT, Copilot, Langfuse and more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480560" y="3346704"/>
            <a:ext cx="41148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80560" y="3346704"/>
            <a:ext cx="45720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8056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⚠️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992624" y="33467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Safety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61888" y="3346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PII, IP, security — what every enterprise user must know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822960"/>
          </a:xfrm>
          <a:prstGeom prst="rect">
            <a:avLst/>
          </a:prstGeom>
          <a:solidFill>
            <a:srgbClr val="F0C06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· PROMPT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Basics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components · How LLMs think · Advanced techniques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C060"/>
                </a:solidFill>
              </a:rPr>
              <a:t>PROMPT BASICS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Anatomy of a Great Prompt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high-quality AI output starts with these 5 components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88720" cy="548640"/>
          </a:xfrm>
          <a:prstGeom prst="rect">
            <a:avLst/>
          </a:prstGeom>
          <a:solidFill>
            <a:srgbClr val="F0C060">
              <a:alpha val="18000"/>
            </a:srgbClr>
          </a:solidFill>
          <a:ln w="7620">
            <a:solidFill>
              <a:srgbClr val="F0C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60"/>
                </a:solidFill>
              </a:rPr>
              <a:t>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19072" y="1417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AI who to act as. More specific = better output. 'Senior FastAPI developer' beats 'developer'.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39112"/>
            <a:ext cx="1188720" cy="548640"/>
          </a:xfrm>
          <a:prstGeom prst="rect">
            <a:avLst/>
          </a:prstGeom>
          <a:solidFill>
            <a:srgbClr val="58A6FF">
              <a:alpha val="18000"/>
            </a:srgbClr>
          </a:solidFill>
          <a:ln w="762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TASK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9072" y="20391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exactly what to do — no ambiguity. One clear verb: design, debug, write, review, generate.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82296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60904"/>
            <a:ext cx="1188720" cy="548640"/>
          </a:xfrm>
          <a:prstGeom prst="rect">
            <a:avLst/>
          </a:prstGeom>
          <a:solidFill>
            <a:srgbClr val="3FB950">
              <a:alpha val="18000"/>
            </a:srgbClr>
          </a:solidFill>
          <a:ln w="762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19072" y="266090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domain, users, environment, business constraints. AI stops guessing your situation.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82696"/>
            <a:ext cx="1188720" cy="548640"/>
          </a:xfrm>
          <a:prstGeom prst="rect">
            <a:avLst/>
          </a:prstGeom>
          <a:solidFill>
            <a:srgbClr val="BC8CFF">
              <a:alpha val="18000"/>
            </a:srgbClr>
          </a:solidFill>
          <a:ln w="762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82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</a:rPr>
              <a:t>FORMAT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19072" y="32826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markdown table, Gherkin, code block, JIRA format — specify the output shape explicitly.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8229600" cy="54864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04488"/>
            <a:ext cx="1188720" cy="548640"/>
          </a:xfrm>
          <a:prstGeom prst="rect">
            <a:avLst/>
          </a:prstGeom>
          <a:solidFill>
            <a:srgbClr val="F0C060">
              <a:alpha val="18000"/>
            </a:srgbClr>
          </a:solidFill>
          <a:ln w="7620">
            <a:solidFill>
              <a:srgbClr val="F0C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60"/>
                </a:solidFill>
              </a:rPr>
              <a:t>CONSTRAINTS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9072" y="390448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guessing. No hardcoded secrets. Parameterised SQL only. Max 200 words. State all gaps.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590288"/>
            <a:ext cx="192024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59028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Tokenisation — ~4 chars = 1 token. Every word costs API money.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32888" y="4590288"/>
            <a:ext cx="192024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459028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 — 0–0.2 = precise code. 0.8+ = creative writing.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08576" y="4590288"/>
            <a:ext cx="192024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459028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Placement — Critical rules at START and END of prompt.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84264" y="4590288"/>
            <a:ext cx="192024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459028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System vs User — Rules in system prompt. Task in user prompt.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C060"/>
                </a:solidFill>
              </a:rPr>
              <a:t>PROMPT PATTERNS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Reusable Patterns for Every Role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these daily to get consistent, high-quality AI output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24328" cy="118872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24328" cy="54864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 Role Prompting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81965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 as a [senior role]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expertise level. More specific = smarter answers. Try: 'senior DevOps engineer with AWS ECS experience'.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1417320"/>
            <a:ext cx="2624328" cy="118872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417320"/>
            <a:ext cx="2624328" cy="54864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508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Context Prompting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181965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Stack: Python, FastAPI, PostgreSQL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208483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tech = AI stops inventing your environment. Include version numbers for precise answers.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88736" y="1417320"/>
            <a:ext cx="2624328" cy="118872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1417320"/>
            <a:ext cx="2624328" cy="54864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8" name="Text 16"/>
          <p:cNvSpPr/>
          <p:nvPr/>
        </p:nvSpPr>
        <p:spPr>
          <a:xfrm>
            <a:off x="5980176" y="15087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Format Prompting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80176" y="181965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Return as JSON / table / Gherkin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0176" y="208483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Parseable output plugs directly into your workflow. Specify columns, keys, or sections explicitly.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2624328" cy="118872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97480"/>
            <a:ext cx="2624328" cy="54864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889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Few-Shot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0998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 input → Expected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499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examples outperform 3 paragraphs of instructions. Show, don't just tell.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2697480"/>
            <a:ext cx="2624328" cy="118872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697480"/>
            <a:ext cx="2624328" cy="54864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28" name="Text 26"/>
          <p:cNvSpPr/>
          <p:nvPr/>
        </p:nvSpPr>
        <p:spPr>
          <a:xfrm>
            <a:off x="3264408" y="27889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Constraint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64408" y="30998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assumptions. State gaps. Max 200 words.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336499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prevent hallucination and scope creep. Negative constraints are as powerful as instructions.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88736" y="2697480"/>
            <a:ext cx="2624328" cy="118872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88736" y="2697480"/>
            <a:ext cx="2624328" cy="54864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33" name="Text 31"/>
          <p:cNvSpPr/>
          <p:nvPr/>
        </p:nvSpPr>
        <p:spPr>
          <a:xfrm>
            <a:off x="5980176" y="27889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Review Pass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80176" y="30998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Now check your answer for edge cases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0176" y="336499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self-audit. Catches ~40% of errors in code, logic, and completeness gaps.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078224"/>
            <a:ext cx="8229600" cy="804672"/>
          </a:xfrm>
          <a:prstGeom prst="rect">
            <a:avLst/>
          </a:prstGeom>
          <a:solidFill>
            <a:srgbClr val="0D1E30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1056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C060"/>
                </a:solidFill>
              </a:rPr>
              <a:t>⚡  MASTER TEMPLATE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43068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[ROLE].  Task: [what to do].  Context: [stack / users / domain].  Format: [JSON / table / prose].  Constraints: [limits / no-guess / security rules].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BC8CFF">
              <a:alpha val="12000"/>
            </a:srgbClr>
          </a:solidFill>
          <a:ln w="889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C8CFF"/>
                </a:solidFill>
              </a:rPr>
              <a:t>STRUCTURED OUTPUT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AI Exactly What Format to Return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formats across all IT roles — machine, human, and stakeholder outputs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51760" cy="274320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Machine Reads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YAML · CSV · SQL · Code Block · Regex · Pydantic · Terraform · Dockerfile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517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17320"/>
            <a:ext cx="2651760" cy="274320"/>
          </a:xfrm>
          <a:prstGeom prst="rect">
            <a:avLst/>
          </a:prstGeom>
          <a:solidFill>
            <a:srgbClr val="F0C060">
              <a:alpha val="20000"/>
            </a:srgbClr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Human Reviews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19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Table · Numbered List · Gherkin · Scorecard · JIRA · Mermaid · PlantUML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089904" y="1417320"/>
            <a:ext cx="26517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17320"/>
            <a:ext cx="2651760" cy="27432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Stakeholder Sees 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1719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Report · Executive Summary · ADR · RFC · PIR · STRIDE · Release Notes · OpenAPI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229600" cy="274320"/>
          </a:xfrm>
          <a:prstGeom prst="rect">
            <a:avLst/>
          </a:prstGeom>
          <a:solidFill>
            <a:srgbClr val="1C2333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C060"/>
                </a:solidFill>
              </a:rPr>
              <a:t>FORMAT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10512" y="2432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C060"/>
                </a:solidFill>
              </a:rPr>
              <a:t>PROMPT INSTRUCTION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14032" y="24323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C060"/>
                </a:solidFill>
              </a:rPr>
              <a:t>USED BY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8229600" cy="256032"/>
          </a:xfrm>
          <a:prstGeom prst="rect">
            <a:avLst/>
          </a:prstGeom>
          <a:solidFill>
            <a:srgbClr val="161B22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47088" y="27066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"Return ONLY valid JSON. No preamble. No markdown fences."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95744" y="270662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AI / DevOps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967228"/>
            <a:ext cx="8229600" cy="256032"/>
          </a:xfrm>
          <a:prstGeom prst="rect">
            <a:avLst/>
          </a:prstGeom>
          <a:solidFill>
            <a:srgbClr val="0D1117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9672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Table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47088" y="29672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"Table: ID | Category | Test Scenario | Expected Result | Priority"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95744" y="296722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BA / PM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27832"/>
            <a:ext cx="8229600" cy="256032"/>
          </a:xfrm>
          <a:prstGeom prst="rect">
            <a:avLst/>
          </a:prstGeom>
          <a:solidFill>
            <a:srgbClr val="161B22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3227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47088" y="32278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"Given [context], When [action], Then [outcome]."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95744" y="32278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BA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488436"/>
            <a:ext cx="8229600" cy="256032"/>
          </a:xfrm>
          <a:prstGeom prst="rect">
            <a:avLst/>
          </a:prstGeom>
          <a:solidFill>
            <a:srgbClr val="0D1117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4884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Format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47088" y="34884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"Epic &gt; Story &gt; Subtask + Story Points + Sprint assignment"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95744" y="34884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BA / DM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solidFill>
            <a:srgbClr val="161B22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847088" y="3749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"Output as valid YAML. 2-space indent. No comments unless asked."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95744" y="37490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009644"/>
            <a:ext cx="8229600" cy="256032"/>
          </a:xfrm>
          <a:prstGeom prst="rect">
            <a:avLst/>
          </a:prstGeom>
          <a:solidFill>
            <a:srgbClr val="0D1117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40096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47088" y="40096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"Title | Status | Context | Decision | Options | Consequences"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95744" y="400964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/ CTO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270248"/>
            <a:ext cx="8229600" cy="256032"/>
          </a:xfrm>
          <a:prstGeom prst="rect">
            <a:avLst/>
          </a:prstGeom>
          <a:solidFill>
            <a:srgbClr val="161B22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4270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847088" y="42702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"Executive Summary | Timeline | 5-Whys RCA | Corrective Actions"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95744" y="42702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/ DevOps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530852"/>
            <a:ext cx="8229600" cy="256032"/>
          </a:xfrm>
          <a:prstGeom prst="rect">
            <a:avLst/>
          </a:prstGeom>
          <a:solidFill>
            <a:srgbClr val="0D1117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45308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Prose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847088" y="45308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"Max 300 words. RAG status. Named owners. Specific dates."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95744" y="45308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/ CTO / PM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C060"/>
                </a:solidFill>
              </a:rPr>
              <a:t>TOKEN OPTIMIZATION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Optimization &amp; Cost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token = API cost. Better prompts = faster, cheaper, smarter AI.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77240"/>
          </a:xfrm>
          <a:prstGeom prst="rect">
            <a:avLst/>
          </a:prstGeom>
          <a:solidFill>
            <a:srgbClr val="0D1E30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</a:rPr>
              <a:t>💰  Cost Formula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= (Input Tokens × Input Rate) + (Output Tokens × Output Rate)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tokens are often 3–5× more expensive than input tokens.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53712" y="1417320"/>
            <a:ext cx="4133088" cy="777240"/>
          </a:xfrm>
          <a:prstGeom prst="rect">
            <a:avLst/>
          </a:prstGeom>
          <a:solidFill>
            <a:srgbClr val="1A0808"/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435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🔥  What Burns Tokens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81728" y="16550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bloat · Full chat history · All RAG chunks · Full DB schema · Repeated examples · No output format = verbose prose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624328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2624328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231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✂️  Compress Prompt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repeated rules, verbose explanations, examples you never needed. Cut 30–60% of system prompt.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72968" y="2331720"/>
            <a:ext cx="2624328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331720"/>
            <a:ext cx="2624328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64408" y="24231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Top-K RAG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271576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top 3–5 relevant chunks with metadata filters. Not all 106 retrieved documents every request.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88736" y="2331720"/>
            <a:ext cx="2624328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88736" y="2331720"/>
            <a:ext cx="2624328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5980176" y="24231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Force Short 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0176" y="271576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"Max 5 bullets." / "JSON only." / "Under 200 words." Prevents 2000-token prose for a simple question.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264408"/>
            <a:ext cx="2624328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64408"/>
            <a:ext cx="2624328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5584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Summarise Memory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64845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50-turn history with a 200-token summary of decisions and current intent. Same result, 90% fewer tokens.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72968" y="3264408"/>
            <a:ext cx="2624328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3264408"/>
            <a:ext cx="2624328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30" name="Text 28"/>
          <p:cNvSpPr/>
          <p:nvPr/>
        </p:nvSpPr>
        <p:spPr>
          <a:xfrm>
            <a:off x="3264408" y="335584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Cache Results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64408" y="364845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Redis-cache static answers, embeddings, repeated tool results. Avoid duplicate LLM calls for identical queries.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88736" y="3264408"/>
            <a:ext cx="2624328" cy="84124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88736" y="3264408"/>
            <a:ext cx="2624328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80176" y="335584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Route by Model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80176" y="364845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/ Haiku for classification. Claude 3 / GPT-4 only for complex reasoning, architecture, or security review.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solidFill>
            <a:srgbClr val="1C2333"/>
          </a:solidFill>
          <a:ln w="508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7548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Monitor: Avg Input Tokens · Avg Output Tokens · Cost per Request · Cache Hit Ratio · Token Spikes · Cost per User / Team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822960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· 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Role-Specific Daily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practical use cases for each of 15 team roles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58A6FF">
              <a:alpha val="12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</a:rPr>
              <a:t>USE CASES · DEVELOPERS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Developers: What AI Does for You Daily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Dev · Frontend React · Node.js/Java · Python · QA · DevOps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 Developer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" y="1783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LangGraph agent architecture &amp; tool routing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85216" y="2020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System prompt hardening &amp; RAG pipeline debugging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85216" y="22951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⚛️  Frontend (React)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19856" y="1783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Component hierarchy design with TypeScript interfaces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419856" y="2020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Re-render diagnosis, WCAG fixes, Vitest test suites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419856" y="22951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17320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Node.js / Java Dev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54496" y="1783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Production REST API design with auth &amp; RBAC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54496" y="2020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PostgreSQL query optimisation with EXPLAIN ANALYZE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254496" y="22951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715768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715768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Python Developer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" y="3081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FastAPI async patterns &amp; Pydantic v2 validation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85216" y="3319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SQLAlchemy ORM optimisation &amp; pytest fixtures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85216" y="35935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2715768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715768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QA / Tester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19856" y="3081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Test strategy &amp; full scenario generation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419856" y="3319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API contract testing &amp; exploratory test charters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3419856" y="35935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2715768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715768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DevOps Engineer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4496" y="3081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Dockerfile, K8s manifests &amp; CI/CD pipelines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254496" y="3319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Production incident RCA from logs + runbooks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254496" y="35935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C060"/>
                </a:solidFill>
              </a:rPr>
              <a:t>USE CASES · MANAGEMENT &amp; LEADERSHIP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&amp; Leadership: AI as Your Work Accelerator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 · BA · Delivery Manager · HR · Technical Architect · CTO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Project Manager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" y="1783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Sprint plans, risk registers &amp; RAID logs in seconds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85216" y="2020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Stakeholder emails, escalations &amp; MoM from raw notes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85216" y="22951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Business Analyst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19856" y="1783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BRD &amp; FSD writing from stakeholder notes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419856" y="2020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 stories with Gherkin criteria + JIRA task generation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419856" y="22951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17320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Delivery Manager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54496" y="1783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Executive RAG reports from messy standup notes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54496" y="2020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Client delay emails naming root cause — builds trust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254496" y="229514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715768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715768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HR Team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" y="3081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Inclusive JD writing — bias-free, engineering-to-engineering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85216" y="3319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STAR interview question banks with scoring rubrics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85216" y="35935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2715768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715768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Technical Architect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19856" y="3081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ADRs, STRIDE threat models &amp; tech evaluation matrices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419856" y="3319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RFC documents, API contracts &amp; scalability reviews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3419856" y="35935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2715768"/>
            <a:ext cx="2743200" cy="1207008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715768"/>
            <a:ext cx="274320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👔  CTO / Tech Leader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4496" y="3081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Board-level tech reports translating engineering to business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254496" y="3319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adoption roadmap, build vs buy analysis &amp; org design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254496" y="359359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→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3FB950">
              <a:alpha val="12000"/>
            </a:srgbClr>
          </a:solidFill>
          <a:ln w="889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B950"/>
                </a:solidFill>
              </a:rPr>
              <a:t>LIVE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 Tab — First Prompt Live in ChatGPT / Claude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a role → Prompt 1 loads automatically → paste and run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754880" cy="59436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12064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4538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7282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team role from the dropdown on the Home tab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093976"/>
            <a:ext cx="4754880" cy="59436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93976"/>
            <a:ext cx="512064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93976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2130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Session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2404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— all 90+ prompts and use cases load instantly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4754880" cy="59436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70632"/>
            <a:ext cx="512064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0632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28072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Demos Tab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0815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for your selected role appears — copy with one click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4754880" cy="59436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47288"/>
            <a:ext cx="512064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47288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34838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&amp; Run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37581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ChatGPT or Claude, paste the prompt, watch the live output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123944"/>
            <a:ext cx="4754880" cy="594360"/>
          </a:xfrm>
          <a:prstGeom prst="rect">
            <a:avLst/>
          </a:prstGeom>
          <a:solidFill>
            <a:srgbClr val="161B22"/>
          </a:solidFill>
          <a:ln w="762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23944"/>
            <a:ext cx="512064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23944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41605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4434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quality differences — prompt specificity drives result quality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376672" y="1417320"/>
            <a:ext cx="3310128" cy="3383280"/>
          </a:xfrm>
          <a:prstGeom prst="rect">
            <a:avLst/>
          </a:prstGeom>
          <a:solidFill>
            <a:srgbClr val="0A1628"/>
          </a:solidFill>
          <a:ln w="1016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76672" y="1417320"/>
            <a:ext cx="3310128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14173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AI DEVELOPER · PROMPT 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68112" y="1691640"/>
            <a:ext cx="312724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am building a LangGraph-based AI agent for a UAE retail CRM.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agent needs to: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Accept a natural language query from a store manager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Route between SQL query, vector search, and static report tools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Maintain session memory using Redis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Return structured JSON with answer + data source used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Stack: Python 3.11, LangGraph 0.2, FastAPI, Gemini 1.5 Pro, PostgreSQL, Redis, Qdrant.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Design: AgentState TypedDict, node definitions, conditional edge logic, tool binding, and sample graph.invoke() call.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0D1E14"/>
          </a:solidFill>
          <a:ln w="762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Every role has 10 copy-paste prompts. Demos tab always shows Prompt 1 for the selected role — no switching tabs needed.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85149">
              <a:alpha val="12000"/>
            </a:srgbClr>
          </a:solidFill>
          <a:ln w="889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5149"/>
                </a:solidFill>
              </a:rPr>
              <a:t>HALLUCINATION CONTROL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 Makes Things Up — and 6 Ways to Stop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confidently generates wrong, invented, or outdated facts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solidFill>
            <a:srgbClr val="180808"/>
          </a:solidFill>
          <a:ln w="889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HALLUCINATION = confident answer that is wrong, invented, outdated, or unsupported by your actual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83664"/>
            <a:ext cx="45720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95681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Ground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actual docs, schemas, logs, or RAG chunks. Never ask from memory for critical facts.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883664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883664"/>
            <a:ext cx="45720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195681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Force Uncertainty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2249424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"If data is missing, write: Information not provided." Stops confident invention.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88736" y="1883664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1883664"/>
            <a:ext cx="45720" cy="9144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98464" y="195681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Ask for Proof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98464" y="2249424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must include: evidence from context + verification step before production.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9504"/>
            <a:ext cx="45720" cy="91440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96265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🧾  Supply Schema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255264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exact table/column names. AI cannot invent fields it was shown explicitly in the prompt.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72968" y="2889504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889504"/>
            <a:ext cx="45720" cy="9144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6" name="Text 24"/>
          <p:cNvSpPr/>
          <p:nvPr/>
        </p:nvSpPr>
        <p:spPr>
          <a:xfrm>
            <a:off x="3282696" y="296265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 Block Guessing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3255264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invent API names, library functions, prices, or policies." Explicit block = no guessing.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88736" y="2889504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88736" y="2889504"/>
            <a:ext cx="45720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5998464" y="296265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Self-Review Pass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98464" y="3255264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check your answer for inaccuracies, missing edge cases, and weak assumptions."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950208"/>
            <a:ext cx="8229600" cy="914400"/>
          </a:xfrm>
          <a:prstGeom prst="rect">
            <a:avLst/>
          </a:prstGeom>
          <a:solidFill>
            <a:srgbClr val="060F06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</a:rPr>
              <a:t>✅  SAFE PROMPT FORMULA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416966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only the information provided below. Do not invent API names, table columns, library functions, prices, dates, or policies. If something is missing, write: Information not provided. For every recommendation include: evidence from context + assumption if any + verification step before production use."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0C060">
              <a:alpha val="12000"/>
            </a:srgbClr>
          </a:solidFill>
          <a:ln w="8890">
            <a:solidFill>
              <a:srgbClr val="F0C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C060"/>
                </a:solidFill>
              </a:rPr>
              <a:t>BAD vs GOOD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Prompt Comparisons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goal — completely different AI output quality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 — Developer: API Bug Report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1463040"/>
          </a:xfrm>
          <a:prstGeom prst="rect">
            <a:avLst/>
          </a:prstGeom>
          <a:solidFill>
            <a:srgbClr val="160808"/>
          </a:solidFill>
          <a:ln w="889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69080" cy="25603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9164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5149"/>
                </a:solidFill>
              </a:rPr>
              <a:t>❌  BAD PROMPT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984248"/>
            <a:ext cx="3922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bug in my FastAPI endpoint. It's been working fine but now it returns a 500 error. I'm not sure what's causing it. I've tried restarting. Can you help? I'm using Python and PostgreSQL.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69080" cy="1463040"/>
          </a:xfrm>
          <a:prstGeom prst="rect">
            <a:avLst/>
          </a:prstGeom>
          <a:solidFill>
            <a:srgbClr val="060F06"/>
          </a:solidFill>
          <a:ln w="889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406908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69164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</a:rPr>
              <a:t>✅  GOOD PROMPT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1984248"/>
            <a:ext cx="3922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senior backend engineer. My FastAPI async POST /api/chat raises asyncpg.TooManyConnectionsError under 5+ concurrent users. Stack: Python 3.11, FastAPI 0.110, asyncpg, PostgreSQL 15. Endpoint opens a new DB connection per request with no pooling. Fix: asyncpg connection pool via lifespan context manager. Also identify any other async anti-patterns.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2 — BA: Requirements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4069080" cy="1463040"/>
          </a:xfrm>
          <a:prstGeom prst="rect">
            <a:avLst/>
          </a:prstGeom>
          <a:solidFill>
            <a:srgbClr val="160808"/>
          </a:solidFill>
          <a:ln w="8890">
            <a:solidFill>
              <a:srgbClr val="F851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93008"/>
            <a:ext cx="4069080" cy="25603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93008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5149"/>
                </a:solidFill>
              </a:rPr>
              <a:t>❌  BAD PROMPT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3785616"/>
            <a:ext cx="3922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 meeting and the client mentioned they want a dashboard and faster reports. Can you write the requirements? They're a retail company. Make it professional for the developers.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3493008"/>
            <a:ext cx="4069080" cy="1463040"/>
          </a:xfrm>
          <a:prstGeom prst="rect">
            <a:avLst/>
          </a:prstGeom>
          <a:solidFill>
            <a:srgbClr val="060F06"/>
          </a:solidFill>
          <a:ln w="889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493008"/>
            <a:ext cx="406908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493008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</a:rPr>
              <a:t>✅  GOOD PROMPT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0872" y="3785616"/>
            <a:ext cx="3922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senior BA. Convert these stakeholder notes into a BRD section for a retail CRM dashboard. Client: UAE jewelry, 14 stores. Raw notes: real-time KPI dashboard per store, 2-day delayed Excel reports, footfall + revenue + conversion rate on one screen, PDF export for board, mobile on iPhone. Format: Business Objective | Current Problem | Functional Requirements (numbered) | Business Rules | Open Questions.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58A6FF">
              <a:alpha val="12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</a:rPr>
              <a:t>AI TOOLS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AI Tools by Role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HTML session recommends the right tool for each team — not just ChatGPT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67128" y="148132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Chat + API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Claude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4650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· TA · DM · BA · CTO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92938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writing, agent design, prompt hardening, RAG debugging, code review across multi-file repos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82896" y="148132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Chat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264408" y="14904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ChatGPT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74650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4408" y="192938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tasks, code, planning, email drafts, test generation — the everyday Swiss Army knife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888736" y="141732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98664" y="148132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IDE Plugin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980176" y="149047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GitHub 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0176" y="174650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DevOps · QA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80176" y="192938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completion, test generation, Dockerfile and YAML scaffolding in-editor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67128" y="248716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67128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AI IDE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8640" y="249631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Cursor IDE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275234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· Backend · Frontend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293522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context — trace data flow across agent nodes, refactor component trees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172968" y="242316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82896" y="248716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Research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264408" y="249631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Perplexity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64408" y="275234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· CTO · PM · HR · BA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64408" y="293522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research: salary benchmarks, tech trends, LangGraph release notes, compliance requirements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888736" y="242316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98664" y="248716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98664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Observability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980176" y="249631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Langfuse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80176" y="275234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· DevOps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80176" y="293522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traces per session, token cost by node, latency heatmaps, eval scores — production monitoring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57200" y="342900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167128" y="349300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67128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Productivity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48640" y="350215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Notion AI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375818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BA · DM · HR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8640" y="394106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project docs, meeting notes, retrospectives, delivery wikis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172968" y="342900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82896" y="349300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82896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Transcription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264408" y="350215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🎤  Otter.ai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64408" y="375818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DM · HR · TA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64408" y="394106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Auto-transcribe governance meetings, extract action items, searchable timestamps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888736" y="3429000"/>
            <a:ext cx="2624328" cy="91440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598664" y="3493008"/>
            <a:ext cx="82296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98664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8A6FF"/>
                </a:solidFill>
              </a:rPr>
              <a:t>CLI Agent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980176" y="350215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Claude Code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80176" y="3758184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· DevOps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80176" y="3941064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agent that reads your full repo and refactors agent architecture end-to-end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F85149">
              <a:alpha val="12000"/>
            </a:srgbClr>
          </a:solidFill>
          <a:ln w="889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5149"/>
                </a:solidFill>
              </a:rPr>
              <a:t>RISKS &amp; SAFETY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Every Enterprise AI User Must Know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a productivity multiplier — not a replacement for expert judgment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24328" cy="987552"/>
          </a:xfrm>
          <a:prstGeom prst="rect">
            <a:avLst/>
          </a:prstGeom>
          <a:solidFill>
            <a:srgbClr val="161B22"/>
          </a:solidFill>
          <a:ln w="889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AI Hallucinations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confidently generates wrong code, fake API docs, incorrect SQL column names, or unsupported facts. Always verify — especially business logic, security, and compliance content.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624328" cy="987552"/>
          </a:xfrm>
          <a:prstGeom prst="rect">
            <a:avLst/>
          </a:prstGeom>
          <a:solidFill>
            <a:srgbClr val="161B22"/>
          </a:solidFill>
          <a:ln w="889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Confidentiality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8013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client data, production credentials, PII, or proprietary source code into public AI tools. Use anonymised/dummy data in all demos and training.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88736" y="1417320"/>
            <a:ext cx="2624328" cy="987552"/>
          </a:xfrm>
          <a:prstGeom prst="rect">
            <a:avLst/>
          </a:prstGeom>
          <a:solidFill>
            <a:srgbClr val="161B22"/>
          </a:solidFill>
          <a:ln w="8890">
            <a:solidFill>
              <a:srgbClr val="F0C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0176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Over-Reliance Trap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0176" y="18013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stop thinking critically because 'AI said so', quality drops fast. AI is a first draft — your domain expertise validates the output, not the other way around.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2624328" cy="987552"/>
          </a:xfrm>
          <a:prstGeom prst="rect">
            <a:avLst/>
          </a:prstGeom>
          <a:solidFill>
            <a:srgbClr val="161B22"/>
          </a:solidFill>
          <a:ln w="8890">
            <a:solidFill>
              <a:srgbClr val="F0C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58775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Intellectual Property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may have training data concerns. Your company's IP policy may restrict what can be shared. Consult legal or IT security before using AI for client deliverables.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72968" y="2496312"/>
            <a:ext cx="2624328" cy="987552"/>
          </a:xfrm>
          <a:prstGeom prst="rect">
            <a:avLst/>
          </a:prstGeom>
          <a:solidFill>
            <a:srgbClr val="161B22"/>
          </a:solidFill>
          <a:ln w="889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64408" y="258775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Security Vulnerabilities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880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code with injection bugs, insecure defaults, missing auth checks. Run AI code through security review — especially for auth, data handling, and external API calls.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88736" y="2496312"/>
            <a:ext cx="2624328" cy="987552"/>
          </a:xfrm>
          <a:prstGeom prst="rect">
            <a:avLst/>
          </a:prstGeom>
          <a:solidFill>
            <a:srgbClr val="161B22"/>
          </a:solidFill>
          <a:ln w="889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0176" y="258775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The Golden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0176" y="2880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DRAFT. You approve the FINAL. Treat every AI output like a junior developer's first submission — promising, but needing expert review before production.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solidFill>
            <a:srgbClr val="0A1A0A"/>
          </a:solidFill>
          <a:ln w="762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7183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AI generates the DRAFT · You approve the FINAL · Use AI to multiply your output — never to bypass your expert judgment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40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teams that adopt AI first will define the next decade of software delivery.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won't replace Developers, QA, DevOps, BA, PM, HR, or CTOs.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professional who uses AI will outperform one who doesn't — in speed, quality, and innovation.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127248"/>
            <a:ext cx="1920240" cy="365760"/>
          </a:xfrm>
          <a:prstGeom prst="rect">
            <a:avLst/>
          </a:prstGeom>
          <a:solidFill>
            <a:srgbClr val="F0C060">
              <a:alpha val="15000"/>
            </a:srgbClr>
          </a:solidFill>
          <a:ln w="10160">
            <a:solidFill>
              <a:srgbClr val="F0C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60"/>
                </a:solidFill>
              </a:rPr>
              <a:t>Use 1 prompt today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42616" y="3127248"/>
            <a:ext cx="1920240" cy="365760"/>
          </a:xfrm>
          <a:prstGeom prst="rect">
            <a:avLst/>
          </a:prstGeom>
          <a:solidFill>
            <a:srgbClr val="58A6FF">
              <a:alpha val="1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Share what works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3127248"/>
            <a:ext cx="1920240" cy="365760"/>
          </a:xfrm>
          <a:prstGeom prst="rect">
            <a:avLst/>
          </a:prstGeom>
          <a:solidFill>
            <a:srgbClr val="3FB950">
              <a:alpha val="1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Start small, scale fast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39128" y="3127248"/>
            <a:ext cx="1920240" cy="365760"/>
          </a:xfrm>
          <a:prstGeom prst="rect">
            <a:avLst/>
          </a:prstGeom>
          <a:solidFill>
            <a:srgbClr val="BC8CFF">
              <a:alpha val="15000"/>
            </a:srgbClr>
          </a:solidFill>
          <a:ln w="1016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C8CFF"/>
                </a:solidFill>
              </a:rPr>
              <a:t>Verify every output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Your action item: use one AI prompt from this session before you close your laptop today.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206240"/>
            <a:ext cx="5669280" cy="640080"/>
          </a:xfrm>
          <a:prstGeom prst="rect">
            <a:avLst/>
          </a:prstGeom>
          <a:solidFill>
            <a:srgbClr val="161B22"/>
          </a:solidFill>
          <a:ln w="889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4206240"/>
            <a:ext cx="45720" cy="64008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336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A. Thamizharasi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44897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ML Engineer  ·  Techversant Infotech Pvt Ltd  ·  Trivandrum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Engineering @ Work</dc:title>
  <dc:subject>PptxGenJS Presentation</dc:subject>
  <dc:creator>PptxGenJS</dc:creator>
  <cp:lastModifiedBy>PptxGenJS</cp:lastModifiedBy>
  <cp:revision>1</cp:revision>
  <dcterms:created xsi:type="dcterms:W3CDTF">2026-05-28T06:58:59Z</dcterms:created>
  <dcterms:modified xsi:type="dcterms:W3CDTF">2026-05-28T06:58:59Z</dcterms:modified>
</cp:coreProperties>
</file>